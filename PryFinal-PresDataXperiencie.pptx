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sldIdLst>
    <p:sldId id="256" r:id="rId2"/>
    <p:sldId id="257" r:id="rId3"/>
    <p:sldId id="258" r:id="rId4"/>
    <p:sldId id="262" r:id="rId5"/>
    <p:sldId id="260" r:id="rId6"/>
    <p:sldId id="259" r:id="rId7"/>
    <p:sldId id="267" r:id="rId8"/>
    <p:sldId id="268" r:id="rId9"/>
    <p:sldId id="261"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4"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7011E94-4373-4C8F-8998-043BCECCBFE7}" type="doc">
      <dgm:prSet loTypeId="urn:microsoft.com/office/officeart/2005/8/layout/hierarchy1" loCatId="hierarchy" qsTypeId="urn:microsoft.com/office/officeart/2005/8/quickstyle/simple1#1" qsCatId="simple" csTypeId="urn:microsoft.com/office/officeart/2005/8/colors/accent1_2#1" csCatId="accent1" phldr="1"/>
      <dgm:spPr/>
      <dgm:t>
        <a:bodyPr/>
        <a:lstStyle/>
        <a:p>
          <a:endParaRPr lang="en-US"/>
        </a:p>
      </dgm:t>
    </dgm:pt>
    <dgm:pt modelId="{55A4787E-84A1-4D09-97B8-FCF97A800FD5}">
      <dgm:prSet/>
      <dgm:spPr/>
      <dgm:t>
        <a:bodyPr/>
        <a:lstStyle/>
        <a:p>
          <a:r>
            <a:rPr lang="es-CO" b="1" dirty="0"/>
            <a:t>Pregunta de análisis:</a:t>
          </a:r>
        </a:p>
        <a:p>
          <a:r>
            <a:rPr lang="es-ES" b="1" dirty="0"/>
            <a:t>¿Qué características del café están relacionadas con su calidad y puntaje sensorial?</a:t>
          </a:r>
          <a:endParaRPr lang="en-US" dirty="0"/>
        </a:p>
      </dgm:t>
    </dgm:pt>
    <dgm:pt modelId="{4935549C-07A3-4F8B-A2A3-92BAA9438BCE}" type="parTrans" cxnId="{954F9DEB-0B60-4459-9505-CBB43617C897}">
      <dgm:prSet/>
      <dgm:spPr/>
      <dgm:t>
        <a:bodyPr/>
        <a:lstStyle/>
        <a:p>
          <a:endParaRPr lang="en-US"/>
        </a:p>
      </dgm:t>
    </dgm:pt>
    <dgm:pt modelId="{895B4E05-7792-467B-902E-9270A0577C98}" type="sibTrans" cxnId="{954F9DEB-0B60-4459-9505-CBB43617C897}">
      <dgm:prSet/>
      <dgm:spPr/>
      <dgm:t>
        <a:bodyPr/>
        <a:lstStyle/>
        <a:p>
          <a:endParaRPr lang="en-US"/>
        </a:p>
      </dgm:t>
    </dgm:pt>
    <dgm:pt modelId="{78C6FD79-69FF-4732-A59C-7BDE93DA0333}">
      <dgm:prSet/>
      <dgm:spPr/>
      <dgm:t>
        <a:bodyPr/>
        <a:lstStyle/>
        <a:p>
          <a:r>
            <a:rPr lang="es-ES" dirty="0"/>
            <a:t>Para el análisis Se desarrolló un modelo de regresión lineal múltiple</a:t>
          </a:r>
          <a:r>
            <a:rPr lang="es-CO" dirty="0"/>
            <a:t> para estimar </a:t>
          </a:r>
          <a:r>
            <a:rPr lang="es-CO" dirty="0" err="1"/>
            <a:t>Total_Cup_Points</a:t>
          </a:r>
          <a:r>
            <a:rPr lang="es-ES" dirty="0"/>
            <a:t>  </a:t>
          </a:r>
          <a:endParaRPr lang="en-US" dirty="0"/>
        </a:p>
      </dgm:t>
    </dgm:pt>
    <dgm:pt modelId="{DBD4D602-FFA7-4F2F-BAA3-F1A2B0BCC24E}" type="parTrans" cxnId="{F467D20A-0602-44F7-9BD1-CB381DA95363}">
      <dgm:prSet/>
      <dgm:spPr/>
      <dgm:t>
        <a:bodyPr/>
        <a:lstStyle/>
        <a:p>
          <a:endParaRPr lang="en-US"/>
        </a:p>
      </dgm:t>
    </dgm:pt>
    <dgm:pt modelId="{47FF68BA-39BE-4A34-B2DF-634FD7F30BF7}" type="sibTrans" cxnId="{F467D20A-0602-44F7-9BD1-CB381DA95363}">
      <dgm:prSet/>
      <dgm:spPr/>
      <dgm:t>
        <a:bodyPr/>
        <a:lstStyle/>
        <a:p>
          <a:endParaRPr lang="en-US"/>
        </a:p>
      </dgm:t>
    </dgm:pt>
    <dgm:pt modelId="{7B8B1FB7-8516-4F10-AD6B-0556AF3D9A84}" type="pres">
      <dgm:prSet presAssocID="{A7011E94-4373-4C8F-8998-043BCECCBFE7}" presName="hierChild1" presStyleCnt="0">
        <dgm:presLayoutVars>
          <dgm:chPref val="1"/>
          <dgm:dir/>
          <dgm:animOne val="branch"/>
          <dgm:animLvl val="lvl"/>
          <dgm:resizeHandles/>
        </dgm:presLayoutVars>
      </dgm:prSet>
      <dgm:spPr/>
    </dgm:pt>
    <dgm:pt modelId="{DA366F55-A34B-40AE-97F2-C8D5F90ECCF5}" type="pres">
      <dgm:prSet presAssocID="{55A4787E-84A1-4D09-97B8-FCF97A800FD5}" presName="hierRoot1" presStyleCnt="0"/>
      <dgm:spPr/>
    </dgm:pt>
    <dgm:pt modelId="{239F423E-DA55-4FBE-A014-D143EBD9E866}" type="pres">
      <dgm:prSet presAssocID="{55A4787E-84A1-4D09-97B8-FCF97A800FD5}" presName="composite" presStyleCnt="0"/>
      <dgm:spPr/>
    </dgm:pt>
    <dgm:pt modelId="{494574F0-7EF2-4C70-8964-33FEB89D6408}" type="pres">
      <dgm:prSet presAssocID="{55A4787E-84A1-4D09-97B8-FCF97A800FD5}" presName="background" presStyleLbl="node0" presStyleIdx="0" presStyleCnt="2"/>
      <dgm:spPr/>
    </dgm:pt>
    <dgm:pt modelId="{D3CBE246-2C57-4750-935F-F769130085FA}" type="pres">
      <dgm:prSet presAssocID="{55A4787E-84A1-4D09-97B8-FCF97A800FD5}" presName="text" presStyleLbl="fgAcc0" presStyleIdx="0" presStyleCnt="2">
        <dgm:presLayoutVars>
          <dgm:chPref val="3"/>
        </dgm:presLayoutVars>
      </dgm:prSet>
      <dgm:spPr/>
    </dgm:pt>
    <dgm:pt modelId="{83C628DB-D6C8-4731-A9D5-F270E650839E}" type="pres">
      <dgm:prSet presAssocID="{55A4787E-84A1-4D09-97B8-FCF97A800FD5}" presName="hierChild2" presStyleCnt="0"/>
      <dgm:spPr/>
    </dgm:pt>
    <dgm:pt modelId="{377A81CA-A482-4611-8FE1-838C18CBC704}" type="pres">
      <dgm:prSet presAssocID="{78C6FD79-69FF-4732-A59C-7BDE93DA0333}" presName="hierRoot1" presStyleCnt="0"/>
      <dgm:spPr/>
    </dgm:pt>
    <dgm:pt modelId="{50F6D20C-EC18-459D-A89B-AD3C3522B64D}" type="pres">
      <dgm:prSet presAssocID="{78C6FD79-69FF-4732-A59C-7BDE93DA0333}" presName="composite" presStyleCnt="0"/>
      <dgm:spPr/>
    </dgm:pt>
    <dgm:pt modelId="{C0CC0D5D-8434-4EFF-AC23-E81B9FEDC0B7}" type="pres">
      <dgm:prSet presAssocID="{78C6FD79-69FF-4732-A59C-7BDE93DA0333}" presName="background" presStyleLbl="node0" presStyleIdx="1" presStyleCnt="2"/>
      <dgm:spPr/>
    </dgm:pt>
    <dgm:pt modelId="{7FAB8F43-5069-47F9-96E2-35DE0F65A796}" type="pres">
      <dgm:prSet presAssocID="{78C6FD79-69FF-4732-A59C-7BDE93DA0333}" presName="text" presStyleLbl="fgAcc0" presStyleIdx="1" presStyleCnt="2">
        <dgm:presLayoutVars>
          <dgm:chPref val="3"/>
        </dgm:presLayoutVars>
      </dgm:prSet>
      <dgm:spPr/>
    </dgm:pt>
    <dgm:pt modelId="{FD6792A5-E5BD-41D0-A421-FEB7BD04E239}" type="pres">
      <dgm:prSet presAssocID="{78C6FD79-69FF-4732-A59C-7BDE93DA0333}" presName="hierChild2" presStyleCnt="0"/>
      <dgm:spPr/>
    </dgm:pt>
  </dgm:ptLst>
  <dgm:cxnLst>
    <dgm:cxn modelId="{F467D20A-0602-44F7-9BD1-CB381DA95363}" srcId="{A7011E94-4373-4C8F-8998-043BCECCBFE7}" destId="{78C6FD79-69FF-4732-A59C-7BDE93DA0333}" srcOrd="1" destOrd="0" parTransId="{DBD4D602-FFA7-4F2F-BAA3-F1A2B0BCC24E}" sibTransId="{47FF68BA-39BE-4A34-B2DF-634FD7F30BF7}"/>
    <dgm:cxn modelId="{DE3D6365-7BBF-4092-AEED-F3F4E5B7F308}" type="presOf" srcId="{55A4787E-84A1-4D09-97B8-FCF97A800FD5}" destId="{D3CBE246-2C57-4750-935F-F769130085FA}" srcOrd="0" destOrd="0" presId="urn:microsoft.com/office/officeart/2005/8/layout/hierarchy1"/>
    <dgm:cxn modelId="{4C2BEEAA-B034-4B13-9227-37A31E9954CA}" type="presOf" srcId="{A7011E94-4373-4C8F-8998-043BCECCBFE7}" destId="{7B8B1FB7-8516-4F10-AD6B-0556AF3D9A84}" srcOrd="0" destOrd="0" presId="urn:microsoft.com/office/officeart/2005/8/layout/hierarchy1"/>
    <dgm:cxn modelId="{8B56BEB2-5DEB-4BA4-947B-30AC5C26FE7D}" type="presOf" srcId="{78C6FD79-69FF-4732-A59C-7BDE93DA0333}" destId="{7FAB8F43-5069-47F9-96E2-35DE0F65A796}" srcOrd="0" destOrd="0" presId="urn:microsoft.com/office/officeart/2005/8/layout/hierarchy1"/>
    <dgm:cxn modelId="{954F9DEB-0B60-4459-9505-CBB43617C897}" srcId="{A7011E94-4373-4C8F-8998-043BCECCBFE7}" destId="{55A4787E-84A1-4D09-97B8-FCF97A800FD5}" srcOrd="0" destOrd="0" parTransId="{4935549C-07A3-4F8B-A2A3-92BAA9438BCE}" sibTransId="{895B4E05-7792-467B-902E-9270A0577C98}"/>
    <dgm:cxn modelId="{B0F55F86-03B2-4095-A4AD-D6D2307CFEC9}" type="presParOf" srcId="{7B8B1FB7-8516-4F10-AD6B-0556AF3D9A84}" destId="{DA366F55-A34B-40AE-97F2-C8D5F90ECCF5}" srcOrd="0" destOrd="0" presId="urn:microsoft.com/office/officeart/2005/8/layout/hierarchy1"/>
    <dgm:cxn modelId="{29563A43-8BF3-4694-8857-4E009DDA99A9}" type="presParOf" srcId="{DA366F55-A34B-40AE-97F2-C8D5F90ECCF5}" destId="{239F423E-DA55-4FBE-A014-D143EBD9E866}" srcOrd="0" destOrd="0" presId="urn:microsoft.com/office/officeart/2005/8/layout/hierarchy1"/>
    <dgm:cxn modelId="{87603AA5-B87A-4F24-B3A9-5598471A0B2F}" type="presParOf" srcId="{239F423E-DA55-4FBE-A014-D143EBD9E866}" destId="{494574F0-7EF2-4C70-8964-33FEB89D6408}" srcOrd="0" destOrd="0" presId="urn:microsoft.com/office/officeart/2005/8/layout/hierarchy1"/>
    <dgm:cxn modelId="{B254B3B3-5937-4993-BBE9-80F37E5185B6}" type="presParOf" srcId="{239F423E-DA55-4FBE-A014-D143EBD9E866}" destId="{D3CBE246-2C57-4750-935F-F769130085FA}" srcOrd="1" destOrd="0" presId="urn:microsoft.com/office/officeart/2005/8/layout/hierarchy1"/>
    <dgm:cxn modelId="{A688541D-22D4-4D87-B744-183F70F6DF69}" type="presParOf" srcId="{DA366F55-A34B-40AE-97F2-C8D5F90ECCF5}" destId="{83C628DB-D6C8-4731-A9D5-F270E650839E}" srcOrd="1" destOrd="0" presId="urn:microsoft.com/office/officeart/2005/8/layout/hierarchy1"/>
    <dgm:cxn modelId="{44B7BF39-DF3E-4896-9E1D-3F1575528D51}" type="presParOf" srcId="{7B8B1FB7-8516-4F10-AD6B-0556AF3D9A84}" destId="{377A81CA-A482-4611-8FE1-838C18CBC704}" srcOrd="1" destOrd="0" presId="urn:microsoft.com/office/officeart/2005/8/layout/hierarchy1"/>
    <dgm:cxn modelId="{F13FFBF3-5CC7-499E-AF49-B279CAF64C87}" type="presParOf" srcId="{377A81CA-A482-4611-8FE1-838C18CBC704}" destId="{50F6D20C-EC18-459D-A89B-AD3C3522B64D}" srcOrd="0" destOrd="0" presId="urn:microsoft.com/office/officeart/2005/8/layout/hierarchy1"/>
    <dgm:cxn modelId="{B8A3D943-D062-45AB-BD5D-EAA9DF032D29}" type="presParOf" srcId="{50F6D20C-EC18-459D-A89B-AD3C3522B64D}" destId="{C0CC0D5D-8434-4EFF-AC23-E81B9FEDC0B7}" srcOrd="0" destOrd="0" presId="urn:microsoft.com/office/officeart/2005/8/layout/hierarchy1"/>
    <dgm:cxn modelId="{E3A11222-B5AE-485D-976A-A5F0FF2C72E5}" type="presParOf" srcId="{50F6D20C-EC18-459D-A89B-AD3C3522B64D}" destId="{7FAB8F43-5069-47F9-96E2-35DE0F65A796}" srcOrd="1" destOrd="0" presId="urn:microsoft.com/office/officeart/2005/8/layout/hierarchy1"/>
    <dgm:cxn modelId="{1388C199-F6A6-45E7-9393-1EC17BDF4E5C}" type="presParOf" srcId="{377A81CA-A482-4611-8FE1-838C18CBC704}" destId="{FD6792A5-E5BD-41D0-A421-FEB7BD04E239}"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4574F0-7EF2-4C70-8964-33FEB89D6408}">
      <dsp:nvSpPr>
        <dsp:cNvPr id="0" name=""/>
        <dsp:cNvSpPr/>
      </dsp:nvSpPr>
      <dsp:spPr>
        <a:xfrm>
          <a:off x="1174" y="520807"/>
          <a:ext cx="4121050" cy="261686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CBE246-2C57-4750-935F-F769130085FA}">
      <dsp:nvSpPr>
        <dsp:cNvPr id="0" name=""/>
        <dsp:cNvSpPr/>
      </dsp:nvSpPr>
      <dsp:spPr>
        <a:xfrm>
          <a:off x="459068" y="955807"/>
          <a:ext cx="4121050" cy="2616867"/>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s-CO" sz="2600" b="1" kern="1200" dirty="0"/>
            <a:t>Pregunta de análisis:</a:t>
          </a:r>
        </a:p>
        <a:p>
          <a:pPr marL="0" lvl="0" indent="0" algn="ctr" defTabSz="1155700">
            <a:lnSpc>
              <a:spcPct val="90000"/>
            </a:lnSpc>
            <a:spcBef>
              <a:spcPct val="0"/>
            </a:spcBef>
            <a:spcAft>
              <a:spcPct val="35000"/>
            </a:spcAft>
            <a:buNone/>
          </a:pPr>
          <a:r>
            <a:rPr lang="es-ES" sz="2600" b="1" kern="1200" dirty="0"/>
            <a:t>¿Qué características del café están relacionadas con su calidad y puntaje sensorial?</a:t>
          </a:r>
          <a:endParaRPr lang="en-US" sz="2600" kern="1200" dirty="0"/>
        </a:p>
      </dsp:txBody>
      <dsp:txXfrm>
        <a:off x="535713" y="1032452"/>
        <a:ext cx="3967760" cy="2463577"/>
      </dsp:txXfrm>
    </dsp:sp>
    <dsp:sp modelId="{C0CC0D5D-8434-4EFF-AC23-E81B9FEDC0B7}">
      <dsp:nvSpPr>
        <dsp:cNvPr id="0" name=""/>
        <dsp:cNvSpPr/>
      </dsp:nvSpPr>
      <dsp:spPr>
        <a:xfrm>
          <a:off x="5038013" y="520807"/>
          <a:ext cx="4121050" cy="261686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FAB8F43-5069-47F9-96E2-35DE0F65A796}">
      <dsp:nvSpPr>
        <dsp:cNvPr id="0" name=""/>
        <dsp:cNvSpPr/>
      </dsp:nvSpPr>
      <dsp:spPr>
        <a:xfrm>
          <a:off x="5495908" y="955807"/>
          <a:ext cx="4121050" cy="2616867"/>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s-ES" sz="2600" kern="1200" dirty="0"/>
            <a:t>Para el análisis Se desarrolló un modelo de regresión lineal múltiple</a:t>
          </a:r>
          <a:r>
            <a:rPr lang="es-CO" sz="2600" kern="1200" dirty="0"/>
            <a:t> para estimar </a:t>
          </a:r>
          <a:r>
            <a:rPr lang="es-CO" sz="2600" kern="1200" dirty="0" err="1"/>
            <a:t>Total_Cup_Points</a:t>
          </a:r>
          <a:r>
            <a:rPr lang="es-ES" sz="2600" kern="1200" dirty="0"/>
            <a:t>  </a:t>
          </a:r>
          <a:endParaRPr lang="en-US" sz="2600" kern="1200" dirty="0"/>
        </a:p>
      </dsp:txBody>
      <dsp:txXfrm>
        <a:off x="5572553" y="1032452"/>
        <a:ext cx="3967760" cy="246357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3E3CE518-0D34-42F4-A667-1A0DA9A33A2B}" type="datetimeFigureOut">
              <a:rPr lang="es-CO" smtClean="0"/>
              <a:t>12/09/2026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D16B0561-C4FC-479A-8A3F-864EB4CB7457}" type="slidenum">
              <a:rPr lang="es-CO" smtClean="0"/>
              <a:t>‹Nº›</a:t>
            </a:fld>
            <a:endParaRPr lang="es-CO"/>
          </a:p>
        </p:txBody>
      </p:sp>
    </p:spTree>
    <p:extLst>
      <p:ext uri="{BB962C8B-B14F-4D97-AF65-F5344CB8AC3E}">
        <p14:creationId xmlns:p14="http://schemas.microsoft.com/office/powerpoint/2010/main" val="1390222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E3CE518-0D34-42F4-A667-1A0DA9A33A2B}" type="datetimeFigureOut">
              <a:rPr lang="es-CO" smtClean="0"/>
              <a:t>12/09/2026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D16B0561-C4FC-479A-8A3F-864EB4CB7457}" type="slidenum">
              <a:rPr lang="es-CO" smtClean="0"/>
              <a:t>‹Nº›</a:t>
            </a:fld>
            <a:endParaRPr lang="es-CO"/>
          </a:p>
        </p:txBody>
      </p:sp>
    </p:spTree>
    <p:extLst>
      <p:ext uri="{BB962C8B-B14F-4D97-AF65-F5344CB8AC3E}">
        <p14:creationId xmlns:p14="http://schemas.microsoft.com/office/powerpoint/2010/main" val="2868648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E3CE518-0D34-42F4-A667-1A0DA9A33A2B}" type="datetimeFigureOut">
              <a:rPr lang="es-CO" smtClean="0"/>
              <a:t>12/09/2026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D16B0561-C4FC-479A-8A3F-864EB4CB7457}" type="slidenum">
              <a:rPr lang="es-CO" smtClean="0"/>
              <a:t>‹Nº›</a:t>
            </a:fld>
            <a:endParaRPr lang="es-CO"/>
          </a:p>
        </p:txBody>
      </p:sp>
    </p:spTree>
    <p:extLst>
      <p:ext uri="{BB962C8B-B14F-4D97-AF65-F5344CB8AC3E}">
        <p14:creationId xmlns:p14="http://schemas.microsoft.com/office/powerpoint/2010/main" val="18629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3E3CE518-0D34-42F4-A667-1A0DA9A33A2B}" type="datetimeFigureOut">
              <a:rPr lang="es-CO" smtClean="0"/>
              <a:t>12/09/2026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D16B0561-C4FC-479A-8A3F-864EB4CB7457}" type="slidenum">
              <a:rPr lang="es-CO" smtClean="0"/>
              <a:t>‹Nº›</a:t>
            </a:fld>
            <a:endParaRPr lang="es-CO"/>
          </a:p>
        </p:txBody>
      </p:sp>
    </p:spTree>
    <p:extLst>
      <p:ext uri="{BB962C8B-B14F-4D97-AF65-F5344CB8AC3E}">
        <p14:creationId xmlns:p14="http://schemas.microsoft.com/office/powerpoint/2010/main" val="961233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3E3CE518-0D34-42F4-A667-1A0DA9A33A2B}" type="datetimeFigureOut">
              <a:rPr lang="es-CO" smtClean="0"/>
              <a:t>12/09/2026</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D16B0561-C4FC-479A-8A3F-864EB4CB7457}" type="slidenum">
              <a:rPr lang="es-CO" smtClean="0"/>
              <a:t>‹Nº›</a:t>
            </a:fld>
            <a:endParaRPr lang="es-CO"/>
          </a:p>
        </p:txBody>
      </p:sp>
    </p:spTree>
    <p:extLst>
      <p:ext uri="{BB962C8B-B14F-4D97-AF65-F5344CB8AC3E}">
        <p14:creationId xmlns:p14="http://schemas.microsoft.com/office/powerpoint/2010/main" val="1288507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3E3CE518-0D34-42F4-A667-1A0DA9A33A2B}" type="datetimeFigureOut">
              <a:rPr lang="es-CO" smtClean="0"/>
              <a:t>12/09/2026</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D16B0561-C4FC-479A-8A3F-864EB4CB7457}" type="slidenum">
              <a:rPr lang="es-CO" smtClean="0"/>
              <a:t>‹Nº›</a:t>
            </a:fld>
            <a:endParaRPr lang="es-CO"/>
          </a:p>
        </p:txBody>
      </p:sp>
    </p:spTree>
    <p:extLst>
      <p:ext uri="{BB962C8B-B14F-4D97-AF65-F5344CB8AC3E}">
        <p14:creationId xmlns:p14="http://schemas.microsoft.com/office/powerpoint/2010/main" val="1477017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3CE518-0D34-42F4-A667-1A0DA9A33A2B}" type="datetimeFigureOut">
              <a:rPr lang="es-CO" smtClean="0"/>
              <a:t>12/09/2026</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D16B0561-C4FC-479A-8A3F-864EB4CB7457}" type="slidenum">
              <a:rPr lang="es-CO" smtClean="0"/>
              <a:t>‹Nº›</a:t>
            </a:fld>
            <a:endParaRPr lang="es-CO"/>
          </a:p>
        </p:txBody>
      </p:sp>
    </p:spTree>
    <p:extLst>
      <p:ext uri="{BB962C8B-B14F-4D97-AF65-F5344CB8AC3E}">
        <p14:creationId xmlns:p14="http://schemas.microsoft.com/office/powerpoint/2010/main" val="37334165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E3CE518-0D34-42F4-A667-1A0DA9A33A2B}" type="datetimeFigureOut">
              <a:rPr lang="es-CO" smtClean="0"/>
              <a:t>12/09/2026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D16B0561-C4FC-479A-8A3F-864EB4CB7457}" type="slidenum">
              <a:rPr lang="es-CO" smtClean="0"/>
              <a:t>‹Nº›</a:t>
            </a:fld>
            <a:endParaRPr lang="es-CO"/>
          </a:p>
        </p:txBody>
      </p:sp>
    </p:spTree>
    <p:extLst>
      <p:ext uri="{BB962C8B-B14F-4D97-AF65-F5344CB8AC3E}">
        <p14:creationId xmlns:p14="http://schemas.microsoft.com/office/powerpoint/2010/main" val="12405976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D16B0561-C4FC-479A-8A3F-864EB4CB7457}" type="slidenum">
              <a:rPr lang="es-CO" smtClean="0"/>
              <a:t>‹Nº›</a:t>
            </a:fld>
            <a:endParaRPr lang="es-CO"/>
          </a:p>
        </p:txBody>
      </p:sp>
      <p:sp>
        <p:nvSpPr>
          <p:cNvPr id="5" name="Date Placeholder 4"/>
          <p:cNvSpPr>
            <a:spLocks noGrp="1"/>
          </p:cNvSpPr>
          <p:nvPr>
            <p:ph type="dt" sz="half" idx="10"/>
          </p:nvPr>
        </p:nvSpPr>
        <p:spPr/>
        <p:txBody>
          <a:bodyPr/>
          <a:lstStyle/>
          <a:p>
            <a:fld id="{3E3CE518-0D34-42F4-A667-1A0DA9A33A2B}" type="datetimeFigureOut">
              <a:rPr lang="es-CO" smtClean="0"/>
              <a:t>12/09/2026</a:t>
            </a:fld>
            <a:endParaRPr lang="es-CO"/>
          </a:p>
        </p:txBody>
      </p:sp>
    </p:spTree>
    <p:extLst>
      <p:ext uri="{BB962C8B-B14F-4D97-AF65-F5344CB8AC3E}">
        <p14:creationId xmlns:p14="http://schemas.microsoft.com/office/powerpoint/2010/main" val="38986018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E3CE518-0D34-42F4-A667-1A0DA9A33A2B}" type="datetimeFigureOut">
              <a:rPr lang="es-CO" smtClean="0"/>
              <a:t>12/09/2026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D16B0561-C4FC-479A-8A3F-864EB4CB7457}" type="slidenum">
              <a:rPr lang="es-CO" smtClean="0"/>
              <a:t>‹Nº›</a:t>
            </a:fld>
            <a:endParaRPr lang="es-CO"/>
          </a:p>
        </p:txBody>
      </p:sp>
    </p:spTree>
    <p:extLst>
      <p:ext uri="{BB962C8B-B14F-4D97-AF65-F5344CB8AC3E}">
        <p14:creationId xmlns:p14="http://schemas.microsoft.com/office/powerpoint/2010/main" val="3952723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E3CE518-0D34-42F4-A667-1A0DA9A33A2B}" type="datetimeFigureOut">
              <a:rPr lang="es-CO" smtClean="0"/>
              <a:t>12/09/2026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D16B0561-C4FC-479A-8A3F-864EB4CB7457}" type="slidenum">
              <a:rPr lang="es-CO" smtClean="0"/>
              <a:t>‹Nº›</a:t>
            </a:fld>
            <a:endParaRPr lang="es-CO"/>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482364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E3CE518-0D34-42F4-A667-1A0DA9A33A2B}" type="datetimeFigureOut">
              <a:rPr lang="es-CO" smtClean="0"/>
              <a:t>12/09/2026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D16B0561-C4FC-479A-8A3F-864EB4CB7457}" type="slidenum">
              <a:rPr lang="es-CO" smtClean="0"/>
              <a:t>‹Nº›</a:t>
            </a:fld>
            <a:endParaRPr lang="es-CO"/>
          </a:p>
        </p:txBody>
      </p:sp>
    </p:spTree>
    <p:extLst>
      <p:ext uri="{BB962C8B-B14F-4D97-AF65-F5344CB8AC3E}">
        <p14:creationId xmlns:p14="http://schemas.microsoft.com/office/powerpoint/2010/main" val="1480122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E3CE518-0D34-42F4-A667-1A0DA9A33A2B}" type="datetimeFigureOut">
              <a:rPr lang="es-CO" smtClean="0"/>
              <a:t>12/09/2026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D16B0561-C4FC-479A-8A3F-864EB4CB7457}" type="slidenum">
              <a:rPr lang="es-CO" smtClean="0"/>
              <a:t>‹Nº›</a:t>
            </a:fld>
            <a:endParaRPr lang="es-CO"/>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368178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E3CE518-0D34-42F4-A667-1A0DA9A33A2B}" type="datetimeFigureOut">
              <a:rPr lang="es-CO" smtClean="0"/>
              <a:t>12/09/2026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D16B0561-C4FC-479A-8A3F-864EB4CB7457}" type="slidenum">
              <a:rPr lang="es-CO" smtClean="0"/>
              <a:t>‹Nº›</a:t>
            </a:fld>
            <a:endParaRPr lang="es-CO"/>
          </a:p>
        </p:txBody>
      </p:sp>
    </p:spTree>
    <p:extLst>
      <p:ext uri="{BB962C8B-B14F-4D97-AF65-F5344CB8AC3E}">
        <p14:creationId xmlns:p14="http://schemas.microsoft.com/office/powerpoint/2010/main" val="37066092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E3CE518-0D34-42F4-A667-1A0DA9A33A2B}" type="datetimeFigureOut">
              <a:rPr lang="es-CO" smtClean="0"/>
              <a:t>12/09/2026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D16B0561-C4FC-479A-8A3F-864EB4CB7457}" type="slidenum">
              <a:rPr lang="es-CO" smtClean="0"/>
              <a:t>‹Nº›</a:t>
            </a:fld>
            <a:endParaRPr lang="es-CO"/>
          </a:p>
        </p:txBody>
      </p:sp>
    </p:spTree>
    <p:extLst>
      <p:ext uri="{BB962C8B-B14F-4D97-AF65-F5344CB8AC3E}">
        <p14:creationId xmlns:p14="http://schemas.microsoft.com/office/powerpoint/2010/main" val="190819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E3CE518-0D34-42F4-A667-1A0DA9A33A2B}" type="datetimeFigureOut">
              <a:rPr lang="es-CO" smtClean="0"/>
              <a:t>12/09/2026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D16B0561-C4FC-479A-8A3F-864EB4CB7457}" type="slidenum">
              <a:rPr lang="es-CO" smtClean="0"/>
              <a:t>‹Nº›</a:t>
            </a:fld>
            <a:endParaRPr lang="es-CO"/>
          </a:p>
        </p:txBody>
      </p:sp>
    </p:spTree>
    <p:extLst>
      <p:ext uri="{BB962C8B-B14F-4D97-AF65-F5344CB8AC3E}">
        <p14:creationId xmlns:p14="http://schemas.microsoft.com/office/powerpoint/2010/main" val="1148244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E3CE518-0D34-42F4-A667-1A0DA9A33A2B}" type="datetimeFigureOut">
              <a:rPr lang="es-CO" smtClean="0"/>
              <a:t>12/09/2026</a:t>
            </a:fld>
            <a:endParaRPr lang="es-CO"/>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CO"/>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16B0561-C4FC-479A-8A3F-864EB4CB7457}" type="slidenum">
              <a:rPr lang="es-CO" smtClean="0"/>
              <a:t>‹Nº›</a:t>
            </a:fld>
            <a:endParaRPr lang="es-CO"/>
          </a:p>
        </p:txBody>
      </p:sp>
    </p:spTree>
    <p:extLst>
      <p:ext uri="{BB962C8B-B14F-4D97-AF65-F5344CB8AC3E}">
        <p14:creationId xmlns:p14="http://schemas.microsoft.com/office/powerpoint/2010/main" val="2428087748"/>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86FB4B41-F01E-A285-53DA-4D06205353A2}"/>
              </a:ext>
            </a:extLst>
          </p:cNvPr>
          <p:cNvSpPr txBox="1"/>
          <p:nvPr/>
        </p:nvSpPr>
        <p:spPr>
          <a:xfrm>
            <a:off x="214313" y="1551563"/>
            <a:ext cx="8913646" cy="3447098"/>
          </a:xfrm>
          <a:prstGeom prst="rect">
            <a:avLst/>
          </a:prstGeom>
          <a:noFill/>
        </p:spPr>
        <p:txBody>
          <a:bodyPr wrap="square" rtlCol="0">
            <a:spAutoFit/>
          </a:bodyPr>
          <a:lstStyle/>
          <a:p>
            <a:pPr algn="r"/>
            <a:r>
              <a:rPr lang="es-ES" sz="4000" b="1" dirty="0">
                <a:solidFill>
                  <a:schemeClr val="accent1">
                    <a:lumMod val="50000"/>
                  </a:schemeClr>
                </a:solidFill>
              </a:rPr>
              <a:t>PROYECTO FINAL DATA XPERIENCIE</a:t>
            </a:r>
          </a:p>
          <a:p>
            <a:endParaRPr lang="es-ES" dirty="0"/>
          </a:p>
          <a:p>
            <a:pPr algn="r"/>
            <a:endParaRPr lang="es-ES" sz="2000" dirty="0"/>
          </a:p>
          <a:p>
            <a:pPr algn="r"/>
            <a:r>
              <a:rPr lang="es-ES" sz="2000" dirty="0"/>
              <a:t>LAURA SOFIA CASTIBLANCO CORREA</a:t>
            </a:r>
          </a:p>
          <a:p>
            <a:pPr algn="r"/>
            <a:r>
              <a:rPr lang="es-ES" sz="2000" dirty="0"/>
              <a:t>NESTOR FELIPE BUITRAGO</a:t>
            </a:r>
          </a:p>
          <a:p>
            <a:pPr algn="r"/>
            <a:r>
              <a:rPr lang="es-ES" sz="2000" dirty="0"/>
              <a:t>OMAR DANILO CUICHAN MORALES</a:t>
            </a:r>
          </a:p>
          <a:p>
            <a:pPr algn="r"/>
            <a:endParaRPr lang="es-ES" sz="2000" dirty="0"/>
          </a:p>
          <a:p>
            <a:pPr algn="r"/>
            <a:r>
              <a:rPr lang="es-ES" sz="2000" b="1" dirty="0"/>
              <a:t>UNIVERSIDAD EAN</a:t>
            </a:r>
          </a:p>
          <a:p>
            <a:pPr algn="r"/>
            <a:endParaRPr lang="es-ES" sz="2000" dirty="0"/>
          </a:p>
          <a:p>
            <a:pPr algn="r"/>
            <a:r>
              <a:rPr lang="es-ES" sz="2000" dirty="0"/>
              <a:t>Septiembre 2026</a:t>
            </a:r>
            <a:endParaRPr lang="es-CO" sz="2000" dirty="0"/>
          </a:p>
        </p:txBody>
      </p:sp>
    </p:spTree>
    <p:extLst>
      <p:ext uri="{BB962C8B-B14F-4D97-AF65-F5344CB8AC3E}">
        <p14:creationId xmlns:p14="http://schemas.microsoft.com/office/powerpoint/2010/main" val="1582955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90D83-D0F5-806F-30B9-211BCE8C9CF1}"/>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F7ECAA00-8B35-BD42-19CB-1BF2C307254D}"/>
              </a:ext>
            </a:extLst>
          </p:cNvPr>
          <p:cNvSpPr txBox="1"/>
          <p:nvPr/>
        </p:nvSpPr>
        <p:spPr>
          <a:xfrm>
            <a:off x="914401" y="524869"/>
            <a:ext cx="8357936" cy="707886"/>
          </a:xfrm>
          <a:prstGeom prst="rect">
            <a:avLst/>
          </a:prstGeom>
          <a:noFill/>
        </p:spPr>
        <p:txBody>
          <a:bodyPr wrap="square" rtlCol="0">
            <a:spAutoFit/>
          </a:bodyPr>
          <a:lstStyle/>
          <a:p>
            <a:pPr algn="ctr"/>
            <a:r>
              <a:rPr lang="es-ES" sz="4000" b="1" dirty="0">
                <a:solidFill>
                  <a:schemeClr val="accent1">
                    <a:lumMod val="50000"/>
                  </a:schemeClr>
                </a:solidFill>
              </a:rPr>
              <a:t>Descripción del Proyecto</a:t>
            </a:r>
          </a:p>
        </p:txBody>
      </p:sp>
      <p:sp>
        <p:nvSpPr>
          <p:cNvPr id="2" name="CuadroTexto 1">
            <a:extLst>
              <a:ext uri="{FF2B5EF4-FFF2-40B4-BE49-F238E27FC236}">
                <a16:creationId xmlns:a16="http://schemas.microsoft.com/office/drawing/2014/main" id="{08FF49B1-68AB-75EC-BB22-7FDA30C12181}"/>
              </a:ext>
            </a:extLst>
          </p:cNvPr>
          <p:cNvSpPr txBox="1"/>
          <p:nvPr/>
        </p:nvSpPr>
        <p:spPr>
          <a:xfrm>
            <a:off x="1155032" y="1652337"/>
            <a:ext cx="8357936" cy="2400657"/>
          </a:xfrm>
          <a:prstGeom prst="rect">
            <a:avLst/>
          </a:prstGeom>
          <a:noFill/>
        </p:spPr>
        <p:txBody>
          <a:bodyPr wrap="square" rtlCol="0">
            <a:spAutoFit/>
          </a:bodyPr>
          <a:lstStyle/>
          <a:p>
            <a:endParaRPr lang="es-ES" dirty="0"/>
          </a:p>
          <a:p>
            <a:r>
              <a:rPr lang="es-ES" sz="2400" dirty="0"/>
              <a:t>Este proyecto fue desarrollado como parte del curso de Ciencia de Datos y tiene como objetivo analizar qué características del café están relacionadas con su </a:t>
            </a:r>
            <a:r>
              <a:rPr lang="es-ES" sz="2400" b="1" dirty="0">
                <a:solidFill>
                  <a:srgbClr val="0070C0"/>
                </a:solidFill>
              </a:rPr>
              <a:t>calidad y puntaje sensorial</a:t>
            </a:r>
            <a:r>
              <a:rPr lang="es-ES" sz="2400" dirty="0"/>
              <a:t>.  </a:t>
            </a:r>
          </a:p>
          <a:p>
            <a:endParaRPr lang="es-ES" dirty="0"/>
          </a:p>
          <a:p>
            <a:endParaRPr lang="es-CO" dirty="0"/>
          </a:p>
        </p:txBody>
      </p:sp>
    </p:spTree>
    <p:extLst>
      <p:ext uri="{BB962C8B-B14F-4D97-AF65-F5344CB8AC3E}">
        <p14:creationId xmlns:p14="http://schemas.microsoft.com/office/powerpoint/2010/main" val="362647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40F5AF-5ED2-EA30-9952-46847BEBA143}"/>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947CDE17-06F4-4FCE-8BFE-AD89EACB70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4A64534B-C7D9-476B-876D-0A9259D5027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527E124-CDC8-4D04-848D-E43E18F4254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A768FF94-39B1-44FB-9670-D6F5007FB8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4" name="Rectangle 25">
              <a:extLst>
                <a:ext uri="{FF2B5EF4-FFF2-40B4-BE49-F238E27FC236}">
                  <a16:creationId xmlns:a16="http://schemas.microsoft.com/office/drawing/2014/main" id="{FCE6337A-0F72-4D0B-81DA-748DC80AB6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5" name="Isosceles Triangle 14">
              <a:extLst>
                <a:ext uri="{FF2B5EF4-FFF2-40B4-BE49-F238E27FC236}">
                  <a16:creationId xmlns:a16="http://schemas.microsoft.com/office/drawing/2014/main" id="{2972CF86-A510-4E29-8CED-C0612D080F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6" name="Rectangle 27">
              <a:extLst>
                <a:ext uri="{FF2B5EF4-FFF2-40B4-BE49-F238E27FC236}">
                  <a16:creationId xmlns:a16="http://schemas.microsoft.com/office/drawing/2014/main" id="{51B0A8D9-B28B-4CE3-8AB6-6633ADD997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7" name="Rectangle 28">
              <a:extLst>
                <a:ext uri="{FF2B5EF4-FFF2-40B4-BE49-F238E27FC236}">
                  <a16:creationId xmlns:a16="http://schemas.microsoft.com/office/drawing/2014/main" id="{525DA9CC-B1B1-4F33-9ED2-89012EA5B4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8" name="Rectangle 29">
              <a:extLst>
                <a:ext uri="{FF2B5EF4-FFF2-40B4-BE49-F238E27FC236}">
                  <a16:creationId xmlns:a16="http://schemas.microsoft.com/office/drawing/2014/main" id="{6AE546F2-92C0-4C9C-BF28-052A7D0A3B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9" name="Isosceles Triangle 18">
              <a:extLst>
                <a:ext uri="{FF2B5EF4-FFF2-40B4-BE49-F238E27FC236}">
                  <a16:creationId xmlns:a16="http://schemas.microsoft.com/office/drawing/2014/main" id="{1111385C-91E7-44E8-AAE5-019E48D76F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0" name="Isosceles Triangle 19">
              <a:extLst>
                <a:ext uri="{FF2B5EF4-FFF2-40B4-BE49-F238E27FC236}">
                  <a16:creationId xmlns:a16="http://schemas.microsoft.com/office/drawing/2014/main" id="{54455A30-C651-4002-BE70-2A0F05BA38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grpSp>
      <p:sp useBgFill="1">
        <p:nvSpPr>
          <p:cNvPr id="22" name="Rectangle 21">
            <a:extLst>
              <a:ext uri="{FF2B5EF4-FFF2-40B4-BE49-F238E27FC236}">
                <a16:creationId xmlns:a16="http://schemas.microsoft.com/office/drawing/2014/main" id="{45B71F80-1F92-4074-84D9-16A062B21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adroTexto 3">
            <a:extLst>
              <a:ext uri="{FF2B5EF4-FFF2-40B4-BE49-F238E27FC236}">
                <a16:creationId xmlns:a16="http://schemas.microsoft.com/office/drawing/2014/main" id="{78EF6D15-488C-D47A-111D-A20F2C3CFC6D}"/>
              </a:ext>
            </a:extLst>
          </p:cNvPr>
          <p:cNvSpPr txBox="1"/>
          <p:nvPr/>
        </p:nvSpPr>
        <p:spPr>
          <a:xfrm>
            <a:off x="1286933" y="609600"/>
            <a:ext cx="10197494" cy="1099457"/>
          </a:xfrm>
          <a:prstGeom prst="rect">
            <a:avLst/>
          </a:prstGeom>
        </p:spPr>
        <p:txBody>
          <a:bodyPr vert="horz" lIns="91440" tIns="45720" rIns="91440" bIns="45720" rtlCol="0" anchor="t">
            <a:normAutofit/>
          </a:bodyPr>
          <a:lstStyle/>
          <a:p>
            <a:pPr>
              <a:spcBef>
                <a:spcPct val="0"/>
              </a:spcBef>
              <a:spcAft>
                <a:spcPts val="600"/>
              </a:spcAft>
            </a:pPr>
            <a:r>
              <a:rPr lang="en-US" sz="3600" b="1">
                <a:solidFill>
                  <a:schemeClr val="accent1"/>
                </a:solidFill>
                <a:latin typeface="+mj-lt"/>
                <a:ea typeface="+mj-ea"/>
                <a:cs typeface="+mj-cs"/>
              </a:rPr>
              <a:t>ANALISIS DE DATOS</a:t>
            </a:r>
          </a:p>
        </p:txBody>
      </p:sp>
      <p:sp>
        <p:nvSpPr>
          <p:cNvPr id="24" name="Isosceles Triangle 23">
            <a:extLst>
              <a:ext uri="{FF2B5EF4-FFF2-40B4-BE49-F238E27FC236}">
                <a16:creationId xmlns:a16="http://schemas.microsoft.com/office/drawing/2014/main" id="{7209C9DA-6E0D-46D9-8275-C52222D8CC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6" name="Isosceles Triangle 25">
            <a:extLst>
              <a:ext uri="{FF2B5EF4-FFF2-40B4-BE49-F238E27FC236}">
                <a16:creationId xmlns:a16="http://schemas.microsoft.com/office/drawing/2014/main" id="{3EB57A4D-E0D0-46DA-B339-F24CA46FA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graphicFrame>
        <p:nvGraphicFramePr>
          <p:cNvPr id="6" name="CuadroTexto 1">
            <a:extLst>
              <a:ext uri="{FF2B5EF4-FFF2-40B4-BE49-F238E27FC236}">
                <a16:creationId xmlns:a16="http://schemas.microsoft.com/office/drawing/2014/main" id="{E798A376-E006-6CCE-95C3-082B450A1BAA}"/>
              </a:ext>
            </a:extLst>
          </p:cNvPr>
          <p:cNvGraphicFramePr/>
          <p:nvPr>
            <p:extLst>
              <p:ext uri="{D42A27DB-BD31-4B8C-83A1-F6EECF244321}">
                <p14:modId xmlns:p14="http://schemas.microsoft.com/office/powerpoint/2010/main" val="461819909"/>
              </p:ext>
            </p:extLst>
          </p:nvPr>
        </p:nvGraphicFramePr>
        <p:xfrm>
          <a:off x="995621" y="1272193"/>
          <a:ext cx="9618133"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68533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A7163-00DB-1AAE-1D22-685F7038E0D2}"/>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91863C63-550E-9EDA-2BDE-68D590AFECEA}"/>
              </a:ext>
            </a:extLst>
          </p:cNvPr>
          <p:cNvSpPr txBox="1"/>
          <p:nvPr/>
        </p:nvSpPr>
        <p:spPr>
          <a:xfrm>
            <a:off x="914401" y="524869"/>
            <a:ext cx="8357936" cy="707886"/>
          </a:xfrm>
          <a:prstGeom prst="rect">
            <a:avLst/>
          </a:prstGeom>
          <a:noFill/>
        </p:spPr>
        <p:txBody>
          <a:bodyPr wrap="square" rtlCol="0">
            <a:spAutoFit/>
          </a:bodyPr>
          <a:lstStyle/>
          <a:p>
            <a:pPr algn="ctr"/>
            <a:r>
              <a:rPr lang="es-ES" sz="4000" b="1" dirty="0">
                <a:solidFill>
                  <a:schemeClr val="accent1">
                    <a:lumMod val="50000"/>
                  </a:schemeClr>
                </a:solidFill>
              </a:rPr>
              <a:t>MODELO PREDICTIVO</a:t>
            </a:r>
          </a:p>
        </p:txBody>
      </p:sp>
      <p:sp>
        <p:nvSpPr>
          <p:cNvPr id="2" name="CuadroTexto 1">
            <a:extLst>
              <a:ext uri="{FF2B5EF4-FFF2-40B4-BE49-F238E27FC236}">
                <a16:creationId xmlns:a16="http://schemas.microsoft.com/office/drawing/2014/main" id="{450E4CD4-5BC0-B34B-FE52-E5150A1EDB8D}"/>
              </a:ext>
            </a:extLst>
          </p:cNvPr>
          <p:cNvSpPr txBox="1"/>
          <p:nvPr/>
        </p:nvSpPr>
        <p:spPr>
          <a:xfrm>
            <a:off x="1187117" y="1232755"/>
            <a:ext cx="8357936" cy="3539430"/>
          </a:xfrm>
          <a:prstGeom prst="rect">
            <a:avLst/>
          </a:prstGeom>
          <a:noFill/>
        </p:spPr>
        <p:txBody>
          <a:bodyPr wrap="square" rtlCol="0">
            <a:spAutoFit/>
          </a:bodyPr>
          <a:lstStyle/>
          <a:p>
            <a:pPr algn="just"/>
            <a:endParaRPr lang="es-ES" sz="2400" dirty="0"/>
          </a:p>
          <a:p>
            <a:pPr algn="just"/>
            <a:r>
              <a:rPr lang="es-ES" sz="2000" dirty="0">
                <a:latin typeface="Arial" panose="020B0604020202020204" pitchFamily="34" charset="0"/>
                <a:cs typeface="Arial" panose="020B0604020202020204" pitchFamily="34" charset="0"/>
              </a:rPr>
              <a:t>Se implementan las siguientes métricas de evaluación:</a:t>
            </a:r>
          </a:p>
          <a:p>
            <a:pPr algn="just"/>
            <a:endParaRPr lang="es-ES" sz="2000" dirty="0">
              <a:latin typeface="Arial" panose="020B0604020202020204" pitchFamily="34" charset="0"/>
              <a:cs typeface="Arial" panose="020B0604020202020204" pitchFamily="34" charset="0"/>
            </a:endParaRPr>
          </a:p>
          <a:p>
            <a:pPr algn="just"/>
            <a:r>
              <a:rPr lang="es-ES" sz="2000" dirty="0">
                <a:latin typeface="Arial" panose="020B0604020202020204" pitchFamily="34" charset="0"/>
                <a:cs typeface="Arial" panose="020B0604020202020204" pitchFamily="34" charset="0"/>
              </a:rPr>
              <a:t>*MAE, Mide, el promedio de las diferencias absolutas entre los valores predichos y los valores reales.</a:t>
            </a:r>
          </a:p>
          <a:p>
            <a:pPr algn="just"/>
            <a:r>
              <a:rPr lang="es-ES" sz="2000" dirty="0">
                <a:latin typeface="Arial" panose="020B0604020202020204" pitchFamily="34" charset="0"/>
                <a:cs typeface="Arial" panose="020B0604020202020204" pitchFamily="34" charset="0"/>
              </a:rPr>
              <a:t>*RMSE, el error cuadrático medio, para determinar la calidad de las predicciones. </a:t>
            </a:r>
          </a:p>
          <a:p>
            <a:pPr algn="just"/>
            <a:r>
              <a:rPr lang="es-ES" sz="2000" dirty="0">
                <a:latin typeface="Arial" panose="020B0604020202020204" pitchFamily="34" charset="0"/>
                <a:cs typeface="Arial" panose="020B0604020202020204" pitchFamily="34" charset="0"/>
              </a:rPr>
              <a:t>*R2, coeficiente de determinación, mide el ajuste del modelo a los datos.</a:t>
            </a:r>
          </a:p>
          <a:p>
            <a:pPr algn="just"/>
            <a:endParaRPr lang="es-ES" sz="2000" dirty="0">
              <a:latin typeface="Arial" panose="020B0604020202020204" pitchFamily="34" charset="0"/>
              <a:cs typeface="Arial" panose="020B0604020202020204" pitchFamily="34" charset="0"/>
            </a:endParaRPr>
          </a:p>
          <a:p>
            <a:pPr algn="just"/>
            <a:endParaRPr lang="es-CO"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76705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85356B-AC77-1FDE-B792-DA781F9CC9C1}"/>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947CDE17-06F4-4FCE-8BFE-AD89EACB70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4A64534B-C7D9-476B-876D-0A9259D5027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527E124-CDC8-4D04-848D-E43E18F4254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A768FF94-39B1-44FB-9670-D6F5007FB8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4" name="Rectangle 25">
              <a:extLst>
                <a:ext uri="{FF2B5EF4-FFF2-40B4-BE49-F238E27FC236}">
                  <a16:creationId xmlns:a16="http://schemas.microsoft.com/office/drawing/2014/main" id="{FCE6337A-0F72-4D0B-81DA-748DC80AB6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5" name="Isosceles Triangle 14">
              <a:extLst>
                <a:ext uri="{FF2B5EF4-FFF2-40B4-BE49-F238E27FC236}">
                  <a16:creationId xmlns:a16="http://schemas.microsoft.com/office/drawing/2014/main" id="{2972CF86-A510-4E29-8CED-C0612D080F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6" name="Rectangle 27">
              <a:extLst>
                <a:ext uri="{FF2B5EF4-FFF2-40B4-BE49-F238E27FC236}">
                  <a16:creationId xmlns:a16="http://schemas.microsoft.com/office/drawing/2014/main" id="{51B0A8D9-B28B-4CE3-8AB6-6633ADD997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7" name="Rectangle 28">
              <a:extLst>
                <a:ext uri="{FF2B5EF4-FFF2-40B4-BE49-F238E27FC236}">
                  <a16:creationId xmlns:a16="http://schemas.microsoft.com/office/drawing/2014/main" id="{525DA9CC-B1B1-4F33-9ED2-89012EA5B4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8" name="Rectangle 29">
              <a:extLst>
                <a:ext uri="{FF2B5EF4-FFF2-40B4-BE49-F238E27FC236}">
                  <a16:creationId xmlns:a16="http://schemas.microsoft.com/office/drawing/2014/main" id="{6AE546F2-92C0-4C9C-BF28-052A7D0A3B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9" name="Isosceles Triangle 18">
              <a:extLst>
                <a:ext uri="{FF2B5EF4-FFF2-40B4-BE49-F238E27FC236}">
                  <a16:creationId xmlns:a16="http://schemas.microsoft.com/office/drawing/2014/main" id="{1111385C-91E7-44E8-AAE5-019E48D76F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0" name="Isosceles Triangle 19">
              <a:extLst>
                <a:ext uri="{FF2B5EF4-FFF2-40B4-BE49-F238E27FC236}">
                  <a16:creationId xmlns:a16="http://schemas.microsoft.com/office/drawing/2014/main" id="{54455A30-C651-4002-BE70-2A0F05BA38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grpSp>
      <p:sp useBgFill="1">
        <p:nvSpPr>
          <p:cNvPr id="22" name="Rectangle 21">
            <a:extLst>
              <a:ext uri="{FF2B5EF4-FFF2-40B4-BE49-F238E27FC236}">
                <a16:creationId xmlns:a16="http://schemas.microsoft.com/office/drawing/2014/main" id="{45B71F80-1F92-4074-84D9-16A062B21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adroTexto 3">
            <a:extLst>
              <a:ext uri="{FF2B5EF4-FFF2-40B4-BE49-F238E27FC236}">
                <a16:creationId xmlns:a16="http://schemas.microsoft.com/office/drawing/2014/main" id="{75BC9E7D-774A-42C8-7787-0051069B22BD}"/>
              </a:ext>
            </a:extLst>
          </p:cNvPr>
          <p:cNvSpPr txBox="1"/>
          <p:nvPr/>
        </p:nvSpPr>
        <p:spPr>
          <a:xfrm>
            <a:off x="1286933" y="609600"/>
            <a:ext cx="10197494" cy="1099457"/>
          </a:xfrm>
          <a:prstGeom prst="rect">
            <a:avLst/>
          </a:prstGeom>
        </p:spPr>
        <p:txBody>
          <a:bodyPr vert="horz" lIns="91440" tIns="45720" rIns="91440" bIns="45720" rtlCol="0" anchor="t">
            <a:normAutofit/>
          </a:bodyPr>
          <a:lstStyle/>
          <a:p>
            <a:pPr>
              <a:spcBef>
                <a:spcPct val="0"/>
              </a:spcBef>
              <a:spcAft>
                <a:spcPts val="600"/>
              </a:spcAft>
            </a:pPr>
            <a:r>
              <a:rPr lang="en-US" sz="3600" b="1" dirty="0">
                <a:solidFill>
                  <a:schemeClr val="accent1"/>
                </a:solidFill>
                <a:latin typeface="+mj-lt"/>
                <a:ea typeface="+mj-ea"/>
                <a:cs typeface="+mj-cs"/>
              </a:rPr>
              <a:t>RESULTADOS MODELO PREDICTIVO</a:t>
            </a:r>
          </a:p>
        </p:txBody>
      </p:sp>
      <p:sp>
        <p:nvSpPr>
          <p:cNvPr id="24" name="Isosceles Triangle 23">
            <a:extLst>
              <a:ext uri="{FF2B5EF4-FFF2-40B4-BE49-F238E27FC236}">
                <a16:creationId xmlns:a16="http://schemas.microsoft.com/office/drawing/2014/main" id="{7209C9DA-6E0D-46D9-8275-C52222D8CC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6" name="Isosceles Triangle 25">
            <a:extLst>
              <a:ext uri="{FF2B5EF4-FFF2-40B4-BE49-F238E27FC236}">
                <a16:creationId xmlns:a16="http://schemas.microsoft.com/office/drawing/2014/main" id="{3EB57A4D-E0D0-46DA-B339-F24CA46FA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graphicFrame>
        <p:nvGraphicFramePr>
          <p:cNvPr id="7" name="Tabla 6">
            <a:extLst>
              <a:ext uri="{FF2B5EF4-FFF2-40B4-BE49-F238E27FC236}">
                <a16:creationId xmlns:a16="http://schemas.microsoft.com/office/drawing/2014/main" id="{9DDB934C-C0D0-66FD-4D35-67F78E72E7B8}"/>
              </a:ext>
            </a:extLst>
          </p:cNvPr>
          <p:cNvGraphicFramePr>
            <a:graphicFrameLocks noGrp="1"/>
          </p:cNvGraphicFramePr>
          <p:nvPr>
            <p:extLst>
              <p:ext uri="{D42A27DB-BD31-4B8C-83A1-F6EECF244321}">
                <p14:modId xmlns:p14="http://schemas.microsoft.com/office/powerpoint/2010/main" val="1356907803"/>
              </p:ext>
            </p:extLst>
          </p:nvPr>
        </p:nvGraphicFramePr>
        <p:xfrm>
          <a:off x="1111539" y="1772234"/>
          <a:ext cx="8596312" cy="1554480"/>
        </p:xfrm>
        <a:graphic>
          <a:graphicData uri="http://schemas.openxmlformats.org/drawingml/2006/table">
            <a:tbl>
              <a:tblPr>
                <a:tableStyleId>{5C22544A-7EE6-4342-B048-85BDC9FD1C3A}</a:tableStyleId>
              </a:tblPr>
              <a:tblGrid>
                <a:gridCol w="4298156">
                  <a:extLst>
                    <a:ext uri="{9D8B030D-6E8A-4147-A177-3AD203B41FA5}">
                      <a16:colId xmlns:a16="http://schemas.microsoft.com/office/drawing/2014/main" val="914380509"/>
                    </a:ext>
                  </a:extLst>
                </a:gridCol>
                <a:gridCol w="4298156">
                  <a:extLst>
                    <a:ext uri="{9D8B030D-6E8A-4147-A177-3AD203B41FA5}">
                      <a16:colId xmlns:a16="http://schemas.microsoft.com/office/drawing/2014/main" val="3947254877"/>
                    </a:ext>
                  </a:extLst>
                </a:gridCol>
              </a:tblGrid>
              <a:tr h="0">
                <a:tc>
                  <a:txBody>
                    <a:bodyPr/>
                    <a:lstStyle/>
                    <a:p>
                      <a:pPr>
                        <a:spcAft>
                          <a:spcPts val="1200"/>
                        </a:spcAft>
                        <a:buNone/>
                      </a:pPr>
                      <a:r>
                        <a:rPr lang="es-CO">
                          <a:effectLst/>
                        </a:rPr>
                        <a:t>Métrica</a:t>
                      </a:r>
                      <a:endParaRPr lang="es-CO" b="1">
                        <a:effectLst/>
                      </a:endParaRPr>
                    </a:p>
                  </a:txBody>
                  <a:tcPr marL="123825" marR="123825" marT="57150" marB="57150" anchor="ctr"/>
                </a:tc>
                <a:tc>
                  <a:txBody>
                    <a:bodyPr/>
                    <a:lstStyle/>
                    <a:p>
                      <a:pPr algn="r">
                        <a:spcAft>
                          <a:spcPts val="1200"/>
                        </a:spcAft>
                        <a:buNone/>
                      </a:pPr>
                      <a:r>
                        <a:rPr lang="es-CO">
                          <a:effectLst/>
                        </a:rPr>
                        <a:t>Resultado</a:t>
                      </a:r>
                      <a:endParaRPr lang="es-CO" b="1">
                        <a:effectLst/>
                      </a:endParaRPr>
                    </a:p>
                  </a:txBody>
                  <a:tcPr marL="123825" marR="123825" marT="57150" marB="57150" anchor="ctr"/>
                </a:tc>
                <a:extLst>
                  <a:ext uri="{0D108BD9-81ED-4DB2-BD59-A6C34878D82A}">
                    <a16:rowId xmlns:a16="http://schemas.microsoft.com/office/drawing/2014/main" val="3028498142"/>
                  </a:ext>
                </a:extLst>
              </a:tr>
              <a:tr h="0">
                <a:tc>
                  <a:txBody>
                    <a:bodyPr/>
                    <a:lstStyle/>
                    <a:p>
                      <a:pPr>
                        <a:spcAft>
                          <a:spcPts val="1200"/>
                        </a:spcAft>
                        <a:buNone/>
                      </a:pPr>
                      <a:r>
                        <a:rPr lang="es-CO">
                          <a:effectLst/>
                        </a:rPr>
                        <a:t>MAE</a:t>
                      </a:r>
                    </a:p>
                  </a:txBody>
                  <a:tcPr marL="123825" marR="123825" marT="57150" marB="57150" anchor="ctr"/>
                </a:tc>
                <a:tc>
                  <a:txBody>
                    <a:bodyPr/>
                    <a:lstStyle/>
                    <a:p>
                      <a:pPr algn="r">
                        <a:spcAft>
                          <a:spcPts val="1200"/>
                        </a:spcAft>
                        <a:buNone/>
                      </a:pPr>
                      <a:r>
                        <a:rPr lang="es-CO">
                          <a:effectLst/>
                        </a:rPr>
                        <a:t>1.71</a:t>
                      </a:r>
                    </a:p>
                  </a:txBody>
                  <a:tcPr marL="123825" marR="123825" marT="57150" marB="57150" anchor="ctr"/>
                </a:tc>
                <a:extLst>
                  <a:ext uri="{0D108BD9-81ED-4DB2-BD59-A6C34878D82A}">
                    <a16:rowId xmlns:a16="http://schemas.microsoft.com/office/drawing/2014/main" val="1252697640"/>
                  </a:ext>
                </a:extLst>
              </a:tr>
              <a:tr h="0">
                <a:tc>
                  <a:txBody>
                    <a:bodyPr/>
                    <a:lstStyle/>
                    <a:p>
                      <a:pPr>
                        <a:spcAft>
                          <a:spcPts val="1200"/>
                        </a:spcAft>
                        <a:buNone/>
                      </a:pPr>
                      <a:r>
                        <a:rPr lang="es-CO">
                          <a:effectLst/>
                        </a:rPr>
                        <a:t>RMSE</a:t>
                      </a:r>
                    </a:p>
                  </a:txBody>
                  <a:tcPr marL="123825" marR="123825" marT="57150" marB="57150" anchor="ctr"/>
                </a:tc>
                <a:tc>
                  <a:txBody>
                    <a:bodyPr/>
                    <a:lstStyle/>
                    <a:p>
                      <a:pPr algn="r">
                        <a:spcAft>
                          <a:spcPts val="1200"/>
                        </a:spcAft>
                        <a:buNone/>
                      </a:pPr>
                      <a:r>
                        <a:rPr lang="es-CO">
                          <a:effectLst/>
                        </a:rPr>
                        <a:t>2.56</a:t>
                      </a:r>
                    </a:p>
                  </a:txBody>
                  <a:tcPr marL="123825" marR="123825" marT="57150" marB="57150" anchor="ctr"/>
                </a:tc>
                <a:extLst>
                  <a:ext uri="{0D108BD9-81ED-4DB2-BD59-A6C34878D82A}">
                    <a16:rowId xmlns:a16="http://schemas.microsoft.com/office/drawing/2014/main" val="380399745"/>
                  </a:ext>
                </a:extLst>
              </a:tr>
              <a:tr h="0">
                <a:tc>
                  <a:txBody>
                    <a:bodyPr/>
                    <a:lstStyle/>
                    <a:p>
                      <a:pPr>
                        <a:spcAft>
                          <a:spcPts val="1200"/>
                        </a:spcAft>
                        <a:buNone/>
                      </a:pPr>
                      <a:r>
                        <a:rPr lang="es-CO">
                          <a:effectLst/>
                        </a:rPr>
                        <a:t>R²</a:t>
                      </a:r>
                    </a:p>
                  </a:txBody>
                  <a:tcPr marL="123825" marR="123825" marT="57150" marB="57150" anchor="ctr"/>
                </a:tc>
                <a:tc>
                  <a:txBody>
                    <a:bodyPr/>
                    <a:lstStyle/>
                    <a:p>
                      <a:pPr algn="r">
                        <a:spcAft>
                          <a:spcPts val="1200"/>
                        </a:spcAft>
                        <a:buNone/>
                      </a:pPr>
                      <a:r>
                        <a:rPr lang="es-CO" dirty="0">
                          <a:effectLst/>
                        </a:rPr>
                        <a:t>0.116</a:t>
                      </a:r>
                    </a:p>
                  </a:txBody>
                  <a:tcPr marL="123825" marR="123825" marT="57150" marB="57150" anchor="ctr"/>
                </a:tc>
                <a:extLst>
                  <a:ext uri="{0D108BD9-81ED-4DB2-BD59-A6C34878D82A}">
                    <a16:rowId xmlns:a16="http://schemas.microsoft.com/office/drawing/2014/main" val="2243382993"/>
                  </a:ext>
                </a:extLst>
              </a:tr>
            </a:tbl>
          </a:graphicData>
        </a:graphic>
      </p:graphicFrame>
      <p:sp>
        <p:nvSpPr>
          <p:cNvPr id="23" name="CuadroTexto 22">
            <a:extLst>
              <a:ext uri="{FF2B5EF4-FFF2-40B4-BE49-F238E27FC236}">
                <a16:creationId xmlns:a16="http://schemas.microsoft.com/office/drawing/2014/main" id="{021A8C64-BEBB-47EF-558A-41DEAC2CD973}"/>
              </a:ext>
            </a:extLst>
          </p:cNvPr>
          <p:cNvSpPr txBox="1"/>
          <p:nvPr/>
        </p:nvSpPr>
        <p:spPr>
          <a:xfrm>
            <a:off x="1075027" y="3681413"/>
            <a:ext cx="8949046" cy="1754326"/>
          </a:xfrm>
          <a:prstGeom prst="rect">
            <a:avLst/>
          </a:prstGeom>
          <a:noFill/>
        </p:spPr>
        <p:txBody>
          <a:bodyPr wrap="square">
            <a:spAutoFit/>
          </a:bodyPr>
          <a:lstStyle/>
          <a:p>
            <a:r>
              <a:rPr lang="es-ES" dirty="0"/>
              <a:t>El modelo presenta un error absoluto medio (MAE) de aproximadamente 1.71 puntos y explica cerca del 11.6 % de la variabilidad (R2) del puntaje en los datos de prueba.</a:t>
            </a:r>
          </a:p>
          <a:p>
            <a:endParaRPr lang="es-ES" dirty="0"/>
          </a:p>
          <a:p>
            <a:r>
              <a:rPr lang="es-ES" dirty="0"/>
              <a:t>Los resultados indican que las características analizadas aportan información sobre la calidad, pero no son suficientes por sí solas para predecir con alta precisión el puntaje sensorial.</a:t>
            </a:r>
            <a:endParaRPr lang="es-CO" dirty="0"/>
          </a:p>
        </p:txBody>
      </p:sp>
    </p:spTree>
    <p:extLst>
      <p:ext uri="{BB962C8B-B14F-4D97-AF65-F5344CB8AC3E}">
        <p14:creationId xmlns:p14="http://schemas.microsoft.com/office/powerpoint/2010/main" val="899003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FFBD4-5D9C-6293-3897-323064F828E6}"/>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82D21C77-7835-D012-9A34-0ABB3166C1CC}"/>
              </a:ext>
            </a:extLst>
          </p:cNvPr>
          <p:cNvSpPr txBox="1"/>
          <p:nvPr/>
        </p:nvSpPr>
        <p:spPr>
          <a:xfrm>
            <a:off x="914401" y="524869"/>
            <a:ext cx="8357936" cy="707886"/>
          </a:xfrm>
          <a:prstGeom prst="rect">
            <a:avLst/>
          </a:prstGeom>
          <a:noFill/>
        </p:spPr>
        <p:txBody>
          <a:bodyPr wrap="square" rtlCol="0">
            <a:spAutoFit/>
          </a:bodyPr>
          <a:lstStyle/>
          <a:p>
            <a:pPr algn="ctr"/>
            <a:r>
              <a:rPr lang="es-ES" sz="4000" b="1" dirty="0">
                <a:solidFill>
                  <a:schemeClr val="accent1">
                    <a:lumMod val="50000"/>
                  </a:schemeClr>
                </a:solidFill>
              </a:rPr>
              <a:t>Evaluación Visual del Modelo</a:t>
            </a:r>
          </a:p>
        </p:txBody>
      </p:sp>
      <p:pic>
        <p:nvPicPr>
          <p:cNvPr id="3" name="Imagen 2">
            <a:extLst>
              <a:ext uri="{FF2B5EF4-FFF2-40B4-BE49-F238E27FC236}">
                <a16:creationId xmlns:a16="http://schemas.microsoft.com/office/drawing/2014/main" id="{C505B5C6-2755-6E97-8032-E75D3995AD10}"/>
              </a:ext>
            </a:extLst>
          </p:cNvPr>
          <p:cNvPicPr>
            <a:picLocks noChangeAspect="1"/>
          </p:cNvPicPr>
          <p:nvPr/>
        </p:nvPicPr>
        <p:blipFill>
          <a:blip r:embed="rId2"/>
          <a:stretch>
            <a:fillRect/>
          </a:stretch>
        </p:blipFill>
        <p:spPr>
          <a:xfrm>
            <a:off x="3819524" y="1232755"/>
            <a:ext cx="6233228" cy="5148263"/>
          </a:xfrm>
          <a:prstGeom prst="rect">
            <a:avLst/>
          </a:prstGeom>
        </p:spPr>
      </p:pic>
      <p:sp>
        <p:nvSpPr>
          <p:cNvPr id="7" name="CuadroTexto 6">
            <a:extLst>
              <a:ext uri="{FF2B5EF4-FFF2-40B4-BE49-F238E27FC236}">
                <a16:creationId xmlns:a16="http://schemas.microsoft.com/office/drawing/2014/main" id="{B95AD77C-B389-D8F9-380A-0F07343161BE}"/>
              </a:ext>
            </a:extLst>
          </p:cNvPr>
          <p:cNvSpPr txBox="1"/>
          <p:nvPr/>
        </p:nvSpPr>
        <p:spPr>
          <a:xfrm>
            <a:off x="538414" y="1903827"/>
            <a:ext cx="2962024" cy="3416320"/>
          </a:xfrm>
          <a:prstGeom prst="rect">
            <a:avLst/>
          </a:prstGeom>
          <a:noFill/>
        </p:spPr>
        <p:txBody>
          <a:bodyPr wrap="square" rtlCol="0">
            <a:spAutoFit/>
          </a:bodyPr>
          <a:lstStyle/>
          <a:p>
            <a:r>
              <a:rPr lang="es-ES" sz="2400" dirty="0"/>
              <a:t>La mayor parte de las evaluaciones se concentra alrededor de los 80–85 puntos, aunque se observa una mayor extensión hacia los puntajes bajos.</a:t>
            </a:r>
            <a:endParaRPr lang="es-CO" dirty="0"/>
          </a:p>
        </p:txBody>
      </p:sp>
    </p:spTree>
    <p:extLst>
      <p:ext uri="{BB962C8B-B14F-4D97-AF65-F5344CB8AC3E}">
        <p14:creationId xmlns:p14="http://schemas.microsoft.com/office/powerpoint/2010/main" val="6172618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4A18BB7F-B688-B39B-4532-20C5322DA3B2}"/>
              </a:ext>
            </a:extLst>
          </p:cNvPr>
          <p:cNvPicPr>
            <a:picLocks noChangeAspect="1"/>
          </p:cNvPicPr>
          <p:nvPr/>
        </p:nvPicPr>
        <p:blipFill>
          <a:blip r:embed="rId2"/>
          <a:stretch>
            <a:fillRect/>
          </a:stretch>
        </p:blipFill>
        <p:spPr>
          <a:xfrm>
            <a:off x="2381250" y="1690938"/>
            <a:ext cx="5600700" cy="3514725"/>
          </a:xfrm>
          <a:prstGeom prst="rect">
            <a:avLst/>
          </a:prstGeom>
        </p:spPr>
      </p:pic>
      <p:sp>
        <p:nvSpPr>
          <p:cNvPr id="5" name="CuadroTexto 4">
            <a:extLst>
              <a:ext uri="{FF2B5EF4-FFF2-40B4-BE49-F238E27FC236}">
                <a16:creationId xmlns:a16="http://schemas.microsoft.com/office/drawing/2014/main" id="{48AB47C4-8A6F-CEC3-FEF6-AABB92B5BC2E}"/>
              </a:ext>
            </a:extLst>
          </p:cNvPr>
          <p:cNvSpPr txBox="1"/>
          <p:nvPr/>
        </p:nvSpPr>
        <p:spPr>
          <a:xfrm>
            <a:off x="914401" y="524869"/>
            <a:ext cx="9458324" cy="707886"/>
          </a:xfrm>
          <a:prstGeom prst="rect">
            <a:avLst/>
          </a:prstGeom>
          <a:noFill/>
        </p:spPr>
        <p:txBody>
          <a:bodyPr wrap="square" rtlCol="0">
            <a:spAutoFit/>
          </a:bodyPr>
          <a:lstStyle/>
          <a:p>
            <a:pPr algn="ctr"/>
            <a:r>
              <a:rPr lang="es-ES" sz="4000" b="1" dirty="0">
                <a:solidFill>
                  <a:schemeClr val="accent1">
                    <a:lumMod val="50000"/>
                  </a:schemeClr>
                </a:solidFill>
              </a:rPr>
              <a:t>Distribución del puntaje de Calidad</a:t>
            </a:r>
          </a:p>
        </p:txBody>
      </p:sp>
      <p:sp>
        <p:nvSpPr>
          <p:cNvPr id="7" name="CuadroTexto 6">
            <a:extLst>
              <a:ext uri="{FF2B5EF4-FFF2-40B4-BE49-F238E27FC236}">
                <a16:creationId xmlns:a16="http://schemas.microsoft.com/office/drawing/2014/main" id="{67AC9CC1-4F05-9652-A6CB-75793E0C95C7}"/>
              </a:ext>
            </a:extLst>
          </p:cNvPr>
          <p:cNvSpPr txBox="1"/>
          <p:nvPr/>
        </p:nvSpPr>
        <p:spPr>
          <a:xfrm>
            <a:off x="1452814" y="5132802"/>
            <a:ext cx="8357936" cy="1200329"/>
          </a:xfrm>
          <a:prstGeom prst="rect">
            <a:avLst/>
          </a:prstGeom>
          <a:noFill/>
        </p:spPr>
        <p:txBody>
          <a:bodyPr wrap="square" rtlCol="0">
            <a:spAutoFit/>
          </a:bodyPr>
          <a:lstStyle/>
          <a:p>
            <a:r>
              <a:rPr lang="es-ES" sz="2400" dirty="0"/>
              <a:t>La mayor parte de las evaluaciones se concentra alrededor de los 80–85 puntos, aunque se observa una mayor extensión hacia los puntajes bajos.</a:t>
            </a:r>
            <a:endParaRPr lang="es-CO" dirty="0"/>
          </a:p>
        </p:txBody>
      </p:sp>
    </p:spTree>
    <p:extLst>
      <p:ext uri="{BB962C8B-B14F-4D97-AF65-F5344CB8AC3E}">
        <p14:creationId xmlns:p14="http://schemas.microsoft.com/office/powerpoint/2010/main" val="441664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0D92454C-9600-CA60-7698-4E0EAE801376}"/>
              </a:ext>
            </a:extLst>
          </p:cNvPr>
          <p:cNvSpPr txBox="1"/>
          <p:nvPr/>
        </p:nvSpPr>
        <p:spPr>
          <a:xfrm>
            <a:off x="914401" y="524869"/>
            <a:ext cx="9458324" cy="1323439"/>
          </a:xfrm>
          <a:prstGeom prst="rect">
            <a:avLst/>
          </a:prstGeom>
          <a:noFill/>
        </p:spPr>
        <p:txBody>
          <a:bodyPr wrap="square" rtlCol="0">
            <a:spAutoFit/>
          </a:bodyPr>
          <a:lstStyle/>
          <a:p>
            <a:pPr algn="ctr"/>
            <a:r>
              <a:rPr lang="es-ES" sz="4000" b="1" dirty="0">
                <a:solidFill>
                  <a:schemeClr val="accent1">
                    <a:lumMod val="50000"/>
                  </a:schemeClr>
                </a:solidFill>
              </a:rPr>
              <a:t>Distribución y valores atípicos del puntaje de Calidad</a:t>
            </a:r>
          </a:p>
        </p:txBody>
      </p:sp>
      <p:pic>
        <p:nvPicPr>
          <p:cNvPr id="5" name="Imagen 4">
            <a:extLst>
              <a:ext uri="{FF2B5EF4-FFF2-40B4-BE49-F238E27FC236}">
                <a16:creationId xmlns:a16="http://schemas.microsoft.com/office/drawing/2014/main" id="{CC53CDCF-D6B1-6B88-A9EC-B458656FC2F3}"/>
              </a:ext>
            </a:extLst>
          </p:cNvPr>
          <p:cNvPicPr>
            <a:picLocks noChangeAspect="1"/>
          </p:cNvPicPr>
          <p:nvPr/>
        </p:nvPicPr>
        <p:blipFill>
          <a:blip r:embed="rId2"/>
          <a:stretch>
            <a:fillRect/>
          </a:stretch>
        </p:blipFill>
        <p:spPr>
          <a:xfrm>
            <a:off x="1128712" y="1848308"/>
            <a:ext cx="7935258" cy="3924301"/>
          </a:xfrm>
          <a:prstGeom prst="rect">
            <a:avLst/>
          </a:prstGeom>
        </p:spPr>
      </p:pic>
      <p:sp>
        <p:nvSpPr>
          <p:cNvPr id="7" name="CuadroTexto 6">
            <a:extLst>
              <a:ext uri="{FF2B5EF4-FFF2-40B4-BE49-F238E27FC236}">
                <a16:creationId xmlns:a16="http://schemas.microsoft.com/office/drawing/2014/main" id="{E9A691CA-79FD-823E-3D3E-F0CD1BE40F32}"/>
              </a:ext>
            </a:extLst>
          </p:cNvPr>
          <p:cNvSpPr txBox="1"/>
          <p:nvPr/>
        </p:nvSpPr>
        <p:spPr>
          <a:xfrm>
            <a:off x="1128712" y="5772609"/>
            <a:ext cx="8357936" cy="923330"/>
          </a:xfrm>
          <a:prstGeom prst="rect">
            <a:avLst/>
          </a:prstGeom>
          <a:noFill/>
        </p:spPr>
        <p:txBody>
          <a:bodyPr wrap="square" rtlCol="0">
            <a:spAutoFit/>
          </a:bodyPr>
          <a:lstStyle/>
          <a:p>
            <a:r>
              <a:rPr lang="es-CO" dirty="0"/>
              <a:t>El diagrama de cajas permite identificar valores atípicos, principalmente en los puntajes inferiores. Estos valores se conservaron debido a que no existe evidencia suficiente para considerarlos errores.</a:t>
            </a:r>
          </a:p>
        </p:txBody>
      </p:sp>
    </p:spTree>
    <p:extLst>
      <p:ext uri="{BB962C8B-B14F-4D97-AF65-F5344CB8AC3E}">
        <p14:creationId xmlns:p14="http://schemas.microsoft.com/office/powerpoint/2010/main" val="988082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4A00FD-6C9F-9F61-7819-07FE76E7407E}"/>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2A83B46E-4B9D-41E7-AEA4-D49D0E7D87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 name="Straight Connector 9">
              <a:extLst>
                <a:ext uri="{FF2B5EF4-FFF2-40B4-BE49-F238E27FC236}">
                  <a16:creationId xmlns:a16="http://schemas.microsoft.com/office/drawing/2014/main" id="{396A8005-E9F4-4EB9-8920-B40570B4AAB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0635935-0E19-45AE-833C-28B82B087FE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3F51BFFB-86E2-4C0F-A3E6-9EB854CA43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3" name="Rectangle 25">
              <a:extLst>
                <a:ext uri="{FF2B5EF4-FFF2-40B4-BE49-F238E27FC236}">
                  <a16:creationId xmlns:a16="http://schemas.microsoft.com/office/drawing/2014/main" id="{BC377650-A34B-4F5C-9CF6-357C1AE1A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4" name="Isosceles Triangle 13">
              <a:extLst>
                <a:ext uri="{FF2B5EF4-FFF2-40B4-BE49-F238E27FC236}">
                  <a16:creationId xmlns:a16="http://schemas.microsoft.com/office/drawing/2014/main" id="{8EDFD6E0-0A92-4B6A-8B1C-6DD83E629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5" name="Rectangle 27">
              <a:extLst>
                <a:ext uri="{FF2B5EF4-FFF2-40B4-BE49-F238E27FC236}">
                  <a16:creationId xmlns:a16="http://schemas.microsoft.com/office/drawing/2014/main" id="{A1D08E0A-48F2-475F-933A-7D65C5B04F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6" name="Rectangle 28">
              <a:extLst>
                <a:ext uri="{FF2B5EF4-FFF2-40B4-BE49-F238E27FC236}">
                  <a16:creationId xmlns:a16="http://schemas.microsoft.com/office/drawing/2014/main" id="{43F7D684-BFDD-4685-8195-32F1ABE31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7" name="Rectangle 29">
              <a:extLst>
                <a:ext uri="{FF2B5EF4-FFF2-40B4-BE49-F238E27FC236}">
                  <a16:creationId xmlns:a16="http://schemas.microsoft.com/office/drawing/2014/main" id="{4A0E8712-3D59-4F13-9FD3-F8889E3C54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8" name="Isosceles Triangle 17">
              <a:extLst>
                <a:ext uri="{FF2B5EF4-FFF2-40B4-BE49-F238E27FC236}">
                  <a16:creationId xmlns:a16="http://schemas.microsoft.com/office/drawing/2014/main" id="{D99F7967-C64D-482A-A1B6-896D7EC227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9" name="Isosceles Triangle 18">
              <a:extLst>
                <a:ext uri="{FF2B5EF4-FFF2-40B4-BE49-F238E27FC236}">
                  <a16:creationId xmlns:a16="http://schemas.microsoft.com/office/drawing/2014/main" id="{7CE53433-52BD-4F44-80A5-B57F4B53A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grpSp>
      <p:cxnSp>
        <p:nvCxnSpPr>
          <p:cNvPr id="21" name="Straight Connector 20">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241804"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4" name="CuadroTexto 3">
            <a:extLst>
              <a:ext uri="{FF2B5EF4-FFF2-40B4-BE49-F238E27FC236}">
                <a16:creationId xmlns:a16="http://schemas.microsoft.com/office/drawing/2014/main" id="{D5804E6C-904F-1CEE-4A1D-967A8FD74E32}"/>
              </a:ext>
            </a:extLst>
          </p:cNvPr>
          <p:cNvSpPr txBox="1"/>
          <p:nvPr/>
        </p:nvSpPr>
        <p:spPr>
          <a:xfrm>
            <a:off x="867835" y="289125"/>
            <a:ext cx="3367359" cy="1055025"/>
          </a:xfrm>
          <a:prstGeom prst="rect">
            <a:avLst/>
          </a:prstGeom>
        </p:spPr>
        <p:txBody>
          <a:bodyPr vert="horz" lIns="91440" tIns="45720" rIns="91440" bIns="45720" rtlCol="0" anchor="ctr">
            <a:normAutofit/>
          </a:bodyPr>
          <a:lstStyle/>
          <a:p>
            <a:pPr>
              <a:spcBef>
                <a:spcPct val="0"/>
              </a:spcBef>
              <a:spcAft>
                <a:spcPts val="600"/>
              </a:spcAft>
            </a:pPr>
            <a:r>
              <a:rPr lang="en-US" sz="3600" b="1" dirty="0">
                <a:solidFill>
                  <a:schemeClr val="accent1"/>
                </a:solidFill>
                <a:latin typeface="+mj-lt"/>
                <a:ea typeface="+mj-ea"/>
                <a:cs typeface="+mj-cs"/>
              </a:rPr>
              <a:t>STORYTELLING</a:t>
            </a:r>
          </a:p>
        </p:txBody>
      </p:sp>
      <p:sp>
        <p:nvSpPr>
          <p:cNvPr id="2" name="CuadroTexto 1">
            <a:extLst>
              <a:ext uri="{FF2B5EF4-FFF2-40B4-BE49-F238E27FC236}">
                <a16:creationId xmlns:a16="http://schemas.microsoft.com/office/drawing/2014/main" id="{D9B1A26E-935F-4C9A-C07F-1761DE9328E9}"/>
              </a:ext>
            </a:extLst>
          </p:cNvPr>
          <p:cNvSpPr txBox="1"/>
          <p:nvPr/>
        </p:nvSpPr>
        <p:spPr>
          <a:xfrm>
            <a:off x="526163" y="1400838"/>
            <a:ext cx="9988455" cy="5224724"/>
          </a:xfrm>
          <a:prstGeom prst="rect">
            <a:avLst/>
          </a:prstGeom>
        </p:spPr>
        <p:txBody>
          <a:bodyPr vert="horz" lIns="91440" tIns="45720" rIns="91440" bIns="45720" rtlCol="0" anchor="ctr">
            <a:noAutofit/>
          </a:bodyPr>
          <a:lstStyle/>
          <a:p>
            <a:pPr>
              <a:lnSpc>
                <a:spcPct val="90000"/>
              </a:lnSpc>
              <a:spcBef>
                <a:spcPts val="1000"/>
              </a:spcBef>
              <a:buClr>
                <a:schemeClr val="accent1"/>
              </a:buClr>
              <a:buSzPct val="80000"/>
              <a:buFont typeface="Wingdings 3" charset="2"/>
              <a:buChar char=""/>
            </a:pPr>
            <a:r>
              <a:rPr lang="es-ES" sz="1400" dirty="0">
                <a:solidFill>
                  <a:schemeClr val="tx1">
                    <a:lumMod val="75000"/>
                    <a:lumOff val="25000"/>
                  </a:schemeClr>
                </a:solidFill>
              </a:rPr>
              <a:t>En el campo donde el clima dicta el ritmo de las cosechas, miles de productores entregan meses de trabajo confiando en que sus granos alcancen la taza perfecta. Sin embargo, en el mundo del café de especialidad, determinar la calidad de un lote ha sido históricamente un proceso envuelto en la subjetividad de los evaluadores y en la intuición del mercado. ¿Qué transforma realmente a un grano común en una experiencia sensorial extraordinaria?</a:t>
            </a:r>
          </a:p>
          <a:p>
            <a:pPr>
              <a:lnSpc>
                <a:spcPct val="90000"/>
              </a:lnSpc>
              <a:spcBef>
                <a:spcPts val="1000"/>
              </a:spcBef>
              <a:buClr>
                <a:schemeClr val="accent1"/>
              </a:buClr>
              <a:buSzPct val="80000"/>
              <a:buFont typeface="Wingdings 3" charset="2"/>
              <a:buChar char=""/>
            </a:pPr>
            <a:r>
              <a:rPr lang="es-ES" sz="1400" dirty="0">
                <a:solidFill>
                  <a:schemeClr val="tx1">
                    <a:lumMod val="75000"/>
                    <a:lumOff val="25000"/>
                  </a:schemeClr>
                </a:solidFill>
              </a:rPr>
              <a:t>Para responder a esta interrogante, nos adentramos en los datos de la evaluación oficial del Coffee </a:t>
            </a:r>
            <a:r>
              <a:rPr lang="es-ES" sz="1400" dirty="0" err="1">
                <a:solidFill>
                  <a:schemeClr val="tx1">
                    <a:lumMod val="75000"/>
                    <a:lumOff val="25000"/>
                  </a:schemeClr>
                </a:solidFill>
              </a:rPr>
              <a:t>Quality</a:t>
            </a:r>
            <a:r>
              <a:rPr lang="es-ES" sz="1400" dirty="0">
                <a:solidFill>
                  <a:schemeClr val="tx1">
                    <a:lumMod val="75000"/>
                    <a:lumOff val="25000"/>
                  </a:schemeClr>
                </a:solidFill>
              </a:rPr>
              <a:t> </a:t>
            </a:r>
            <a:r>
              <a:rPr lang="es-ES" sz="1400" dirty="0" err="1">
                <a:solidFill>
                  <a:schemeClr val="tx1">
                    <a:lumMod val="75000"/>
                    <a:lumOff val="25000"/>
                  </a:schemeClr>
                </a:solidFill>
              </a:rPr>
              <a:t>Institute</a:t>
            </a:r>
            <a:r>
              <a:rPr lang="es-ES" sz="1400" dirty="0">
                <a:solidFill>
                  <a:schemeClr val="tx1">
                    <a:lumMod val="75000"/>
                    <a:lumOff val="25000"/>
                  </a:schemeClr>
                </a:solidFill>
              </a:rPr>
              <a:t> (CQI). A partir de una muestra pulida de 1.508 registros de café arábica y 22 variables clave, convertimos cifras de laboratorio y </a:t>
            </a:r>
            <a:r>
              <a:rPr lang="es-ES" sz="1400" dirty="0" err="1">
                <a:solidFill>
                  <a:schemeClr val="tx1">
                    <a:lumMod val="75000"/>
                    <a:lumOff val="25000"/>
                  </a:schemeClr>
                </a:solidFill>
              </a:rPr>
              <a:t>catación</a:t>
            </a:r>
            <a:r>
              <a:rPr lang="es-ES" sz="1400" dirty="0">
                <a:solidFill>
                  <a:schemeClr val="tx1">
                    <a:lumMod val="75000"/>
                    <a:lumOff val="25000"/>
                  </a:schemeClr>
                </a:solidFill>
              </a:rPr>
              <a:t> en un análisis estadístico y analítico capaz de descifrar la anatomía de la calidad.</a:t>
            </a:r>
          </a:p>
          <a:p>
            <a:pPr>
              <a:lnSpc>
                <a:spcPct val="90000"/>
              </a:lnSpc>
              <a:spcBef>
                <a:spcPts val="1000"/>
              </a:spcBef>
              <a:buClr>
                <a:schemeClr val="accent1"/>
              </a:buClr>
              <a:buSzPct val="80000"/>
              <a:buFont typeface="Wingdings 3" charset="2"/>
              <a:buChar char=""/>
            </a:pPr>
            <a:r>
              <a:rPr lang="es-ES" sz="1400" dirty="0">
                <a:solidFill>
                  <a:schemeClr val="tx1">
                    <a:lumMod val="75000"/>
                    <a:lumOff val="25000"/>
                  </a:schemeClr>
                </a:solidFill>
              </a:rPr>
              <a:t>La anatomía del puntaje perfecto:</a:t>
            </a:r>
          </a:p>
          <a:p>
            <a:pPr>
              <a:lnSpc>
                <a:spcPct val="90000"/>
              </a:lnSpc>
              <a:spcBef>
                <a:spcPts val="1000"/>
              </a:spcBef>
              <a:buClr>
                <a:schemeClr val="accent1"/>
              </a:buClr>
              <a:buSzPct val="80000"/>
              <a:buFont typeface="Wingdings 3" charset="2"/>
              <a:buChar char=""/>
            </a:pPr>
            <a:r>
              <a:rPr lang="es-ES" sz="1400" dirty="0">
                <a:solidFill>
                  <a:schemeClr val="tx1">
                    <a:lumMod val="75000"/>
                    <a:lumOff val="25000"/>
                  </a:schemeClr>
                </a:solidFill>
              </a:rPr>
              <a:t>Al desglosar el puntaje total de taza (Total Cup Points), identificamos cómo interactúan los distintos factores del grano:</a:t>
            </a:r>
          </a:p>
          <a:p>
            <a:pPr>
              <a:lnSpc>
                <a:spcPct val="90000"/>
              </a:lnSpc>
              <a:spcBef>
                <a:spcPts val="1000"/>
              </a:spcBef>
              <a:buClr>
                <a:schemeClr val="accent1"/>
              </a:buClr>
              <a:buSzPct val="80000"/>
              <a:buFont typeface="Wingdings 3" charset="2"/>
              <a:buChar char=""/>
            </a:pPr>
            <a:r>
              <a:rPr lang="es-ES" sz="1400" dirty="0">
                <a:solidFill>
                  <a:schemeClr val="tx1">
                    <a:lumMod val="75000"/>
                    <a:lumOff val="25000"/>
                  </a:schemeClr>
                </a:solidFill>
              </a:rPr>
              <a:t>El peso del perfil sensorial: Atributos como el sabor, el balance y la acidez mostraron la correlación directa más alta con la calificación final. Un perfil bien balanceado actúa como el pilar fundamental para superar la barrera de los 80 puntos de especialidad.</a:t>
            </a:r>
          </a:p>
          <a:p>
            <a:pPr>
              <a:lnSpc>
                <a:spcPct val="90000"/>
              </a:lnSpc>
              <a:spcBef>
                <a:spcPts val="1000"/>
              </a:spcBef>
              <a:buClr>
                <a:schemeClr val="accent1"/>
              </a:buClr>
              <a:buSzPct val="80000"/>
              <a:buFont typeface="Wingdings 3" charset="2"/>
              <a:buChar char=""/>
            </a:pPr>
            <a:r>
              <a:rPr lang="es-ES" sz="1400" dirty="0">
                <a:solidFill>
                  <a:schemeClr val="tx1">
                    <a:lumMod val="75000"/>
                    <a:lumOff val="25000"/>
                  </a:schemeClr>
                </a:solidFill>
              </a:rPr>
              <a:t>El factor origen y altitud: El análisis estadístico confirmó que las alturas elevadas favorecen una maduración más lenta del fruto, lo que se traduce en una mayor densidad del grano y una acidez más compleja y apreciada en taza.</a:t>
            </a:r>
          </a:p>
          <a:p>
            <a:pPr>
              <a:lnSpc>
                <a:spcPct val="90000"/>
              </a:lnSpc>
              <a:spcBef>
                <a:spcPts val="1000"/>
              </a:spcBef>
              <a:buClr>
                <a:schemeClr val="accent1"/>
              </a:buClr>
              <a:buSzPct val="80000"/>
              <a:buFont typeface="Wingdings 3" charset="2"/>
              <a:buChar char=""/>
            </a:pPr>
            <a:r>
              <a:rPr lang="es-ES" sz="1400" dirty="0">
                <a:solidFill>
                  <a:schemeClr val="tx1">
                    <a:lumMod val="75000"/>
                    <a:lumOff val="25000"/>
                  </a:schemeClr>
                </a:solidFill>
              </a:rPr>
              <a:t>El impacto de los defectos: La presencia de defectos físicos y niveles inadecuados de humedad no solo castigan el puntaje total, sino que introducen inconsistencias que arruinan la experiencia limpia del café.</a:t>
            </a:r>
          </a:p>
          <a:p>
            <a:pPr>
              <a:lnSpc>
                <a:spcPct val="90000"/>
              </a:lnSpc>
              <a:spcBef>
                <a:spcPts val="1000"/>
              </a:spcBef>
              <a:buClr>
                <a:schemeClr val="accent1"/>
              </a:buClr>
              <a:buSzPct val="80000"/>
              <a:buFont typeface="Wingdings 3" charset="2"/>
              <a:buChar char=""/>
            </a:pPr>
            <a:r>
              <a:rPr lang="es-ES" sz="1400" dirty="0">
                <a:solidFill>
                  <a:schemeClr val="tx1">
                    <a:lumMod val="75000"/>
                    <a:lumOff val="25000"/>
                  </a:schemeClr>
                </a:solidFill>
              </a:rPr>
              <a:t>Con estos hallazgos, construimos un modelo predictivo capaz de estimar la calidad sensorial a partir de las características físicas y de origen de la muestra. Este modelo demuestra que la calidad del café no es cuestión de suerte: es un patrón medible, predecible y optimizable.</a:t>
            </a:r>
          </a:p>
          <a:p>
            <a:pPr>
              <a:lnSpc>
                <a:spcPct val="90000"/>
              </a:lnSpc>
              <a:spcBef>
                <a:spcPts val="1000"/>
              </a:spcBef>
              <a:buClr>
                <a:schemeClr val="accent1"/>
              </a:buClr>
              <a:buSzPct val="80000"/>
              <a:buFont typeface="Wingdings 3" charset="2"/>
              <a:buChar char=""/>
            </a:pPr>
            <a:r>
              <a:rPr lang="es-ES" sz="1400" dirty="0">
                <a:solidFill>
                  <a:schemeClr val="tx1">
                    <a:lumMod val="75000"/>
                    <a:lumOff val="25000"/>
                  </a:schemeClr>
                </a:solidFill>
              </a:rPr>
              <a:t>Hoy, estos datos no solo responden a una pregunta académica; se convierten en una herramienta práctica. Permiten a los productores ajustar sus métodos de beneficio y procesamiento según la altitud de sus fincas, y ayudan a los tostadores a identificar lotes de alto valor con mayor precisión, conectando el trabajo del campo con la excelencia en la taza.</a:t>
            </a:r>
          </a:p>
          <a:p>
            <a:pPr>
              <a:lnSpc>
                <a:spcPct val="90000"/>
              </a:lnSpc>
              <a:spcBef>
                <a:spcPts val="1000"/>
              </a:spcBef>
              <a:buClr>
                <a:schemeClr val="accent1"/>
              </a:buClr>
              <a:buSzPct val="80000"/>
              <a:buFont typeface="Wingdings 3" charset="2"/>
              <a:buChar char=""/>
            </a:pPr>
            <a:endParaRPr lang="en-US" sz="1400" dirty="0">
              <a:solidFill>
                <a:schemeClr val="tx1">
                  <a:lumMod val="75000"/>
                  <a:lumOff val="25000"/>
                </a:schemeClr>
              </a:solidFill>
            </a:endParaRPr>
          </a:p>
        </p:txBody>
      </p:sp>
    </p:spTree>
    <p:extLst>
      <p:ext uri="{BB962C8B-B14F-4D97-AF65-F5344CB8AC3E}">
        <p14:creationId xmlns:p14="http://schemas.microsoft.com/office/powerpoint/2010/main" val="3715923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69F28-A69C-66B9-AA46-5304C775B0A3}"/>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0A8AE81C-E1A8-E00B-F0D8-A3532CC5C1A2}"/>
              </a:ext>
            </a:extLst>
          </p:cNvPr>
          <p:cNvSpPr txBox="1"/>
          <p:nvPr/>
        </p:nvSpPr>
        <p:spPr>
          <a:xfrm>
            <a:off x="3416969" y="2331133"/>
            <a:ext cx="3320715" cy="1938992"/>
          </a:xfrm>
          <a:prstGeom prst="rect">
            <a:avLst/>
          </a:prstGeom>
          <a:noFill/>
        </p:spPr>
        <p:txBody>
          <a:bodyPr wrap="square" rtlCol="0">
            <a:spAutoFit/>
          </a:bodyPr>
          <a:lstStyle/>
          <a:p>
            <a:pPr algn="ctr"/>
            <a:r>
              <a:rPr lang="es-ES" sz="6000" b="1" dirty="0">
                <a:solidFill>
                  <a:schemeClr val="accent1">
                    <a:lumMod val="50000"/>
                  </a:schemeClr>
                </a:solidFill>
              </a:rPr>
              <a:t>Muchas Gracias</a:t>
            </a:r>
          </a:p>
        </p:txBody>
      </p:sp>
    </p:spTree>
    <p:extLst>
      <p:ext uri="{BB962C8B-B14F-4D97-AF65-F5344CB8AC3E}">
        <p14:creationId xmlns:p14="http://schemas.microsoft.com/office/powerpoint/2010/main" val="2438160481"/>
      </p:ext>
    </p:extLst>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301</TotalTime>
  <Words>732</Words>
  <Application>Microsoft Office PowerPoint</Application>
  <PresentationFormat>Panorámica</PresentationFormat>
  <Paragraphs>53</Paragraphs>
  <Slides>10</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Arial</vt:lpstr>
      <vt:lpstr>Trebuchet MS</vt:lpstr>
      <vt:lpstr>Wingdings 3</vt:lpstr>
      <vt:lpstr>Faceta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Omar Danilo Cuichan</dc:creator>
  <cp:lastModifiedBy>Omar Danilo Cuichan</cp:lastModifiedBy>
  <cp:revision>23</cp:revision>
  <dcterms:created xsi:type="dcterms:W3CDTF">2025-11-12T02:16:07Z</dcterms:created>
  <dcterms:modified xsi:type="dcterms:W3CDTF">2026-09-12T13:59:36Z</dcterms:modified>
</cp:coreProperties>
</file>